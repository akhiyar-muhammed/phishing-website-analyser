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94360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200" b="1">
                <a:solidFill>
                  <a:srgbClr val="003366"/>
                </a:solidFill>
                <a:latin typeface="Georgia"/>
              </a:rPr>
              <a:t>Adi Shankara
</a:t>
            </a:r>
            <a:r>
              <a:rPr sz="1000" b="1">
                <a:solidFill>
                  <a:srgbClr val="1E1E1E"/>
                </a:solidFill>
              </a:rPr>
              <a:t>INSTITUTE OF ENGINEERING AND TECHNOLOGY
</a:t>
            </a:r>
            <a:r>
              <a:rPr sz="850">
                <a:solidFill>
                  <a:srgbClr val="646464"/>
                </a:solidFill>
              </a:rPr>
              <a:t>Approved by AICTE &amp; Affiliated to APJ Abdul Kalam Technological University
(Owned by Adi Sankara Trust)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0" y="365760"/>
            <a:ext cx="4572000" cy="8229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DEPARTMENT OF
ARTIFICIAL INTELLIGENCE AND DATA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E1E1E"/>
                </a:solidFill>
                <a:latin typeface="Calibri"/>
              </a:rPr>
              <a:t>PHISHING WEBSITE IMPERSONATION:
COMPARATIVE ANALYSIS OF DETECTION AND TARGET RECOGNITION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8229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E1E1E"/>
                </a:solidFill>
              </a:rPr>
              <a:t>Presented By : </a:t>
            </a:r>
            <a:r>
              <a:rPr sz="1500">
                <a:solidFill>
                  <a:srgbClr val="1E1E1E"/>
                </a:solidFill>
              </a:rPr>
              <a:t>Marcin Jarczewski, Piotr Białczak, Wojciech Mazurczyk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E1E1E"/>
                </a:solidFill>
              </a:rPr>
              <a:t>Reg No. : </a:t>
            </a:r>
            <a:r>
              <a:rPr sz="1500">
                <a:solidFill>
                  <a:srgbClr val="1E1E1E"/>
                </a:solidFill>
              </a:rPr>
              <a:t>ASI22CA035 / CERT Polska &amp; WUT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E1E1E"/>
                </a:solidFill>
              </a:rPr>
              <a:t>Guide : </a:t>
            </a:r>
            <a:r>
              <a:rPr sz="1500">
                <a:solidFill>
                  <a:srgbClr val="1E1E1E"/>
                </a:solidFill>
              </a:rPr>
              <a:t>Asst. Prof. Asha Rose Thomas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E1E1E"/>
                </a:solidFill>
              </a:rPr>
              <a:t>Semester : </a:t>
            </a:r>
            <a:r>
              <a:rPr sz="1500">
                <a:solidFill>
                  <a:srgbClr val="1E1E1E"/>
                </a:solidFill>
              </a:rPr>
              <a:t>S7, CSE(AI)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23-07-2026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CONTENTS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Cybersecurity Challenge </a:t>
            </a:r>
            <a:r>
              <a:rPr sz="1400">
                <a:solidFill>
                  <a:srgbClr val="1E1E1E"/>
                </a:solidFill>
              </a:rPr>
              <a:t>&amp; Phishing Escalation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Limitations of Traditional </a:t>
            </a:r>
            <a:r>
              <a:rPr sz="1400">
                <a:solidFill>
                  <a:srgbClr val="1E1E1E"/>
                </a:solidFill>
              </a:rPr>
              <a:t>Heuristics &amp; Code Analysis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The Visual Analysis Solution </a:t>
            </a:r>
            <a:r>
              <a:rPr sz="1400">
                <a:solidFill>
                  <a:srgbClr val="1E1E1E"/>
                </a:solidFill>
              </a:rPr>
              <a:t>&amp; Dual Research Objectives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Key Technologies: </a:t>
            </a:r>
            <a:r>
              <a:rPr sz="1400">
                <a:solidFill>
                  <a:srgbClr val="1E1E1E"/>
                </a:solidFill>
              </a:rPr>
              <a:t>Deep Learning vs. Perceptual Hashing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Evaluated Method 1: </a:t>
            </a:r>
            <a:r>
              <a:rPr sz="1400">
                <a:solidFill>
                  <a:srgbClr val="1E1E1E"/>
                </a:solidFill>
              </a:rPr>
              <a:t>VisualPhishNet (Triplet CNN Layout)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Evaluated Method 2: </a:t>
            </a:r>
            <a:r>
              <a:rPr sz="1400">
                <a:solidFill>
                  <a:srgbClr val="1E1E1E"/>
                </a:solidFill>
              </a:rPr>
              <a:t>Phishpedia (Faster R-CNN + Siamese)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Proposed Baseline Method: </a:t>
            </a:r>
            <a:r>
              <a:rPr sz="1400">
                <a:solidFill>
                  <a:srgbClr val="1E1E1E"/>
                </a:solidFill>
              </a:rPr>
              <a:t>Perceptual Hashing (pHash + FAISS)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Experimental Framework </a:t>
            </a:r>
            <a:r>
              <a:rPr sz="1400">
                <a:solidFill>
                  <a:srgbClr val="1E1E1E"/>
                </a:solidFill>
              </a:rPr>
              <a:t>&amp; Dataset Standardization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Thresholding Strategy: </a:t>
            </a:r>
            <a:r>
              <a:rPr sz="1400">
                <a:solidFill>
                  <a:srgbClr val="1E1E1E"/>
                </a:solidFill>
              </a:rPr>
              <a:t>Equal Error Rate (EER) Optimization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Performance Analysis: </a:t>
            </a:r>
            <a:r>
              <a:rPr sz="1400">
                <a:solidFill>
                  <a:srgbClr val="1E1E1E"/>
                </a:solidFill>
              </a:rPr>
              <a:t>Binary Classification &amp; Feature Collapse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Performance Analysis: </a:t>
            </a:r>
            <a:r>
              <a:rPr sz="1400">
                <a:solidFill>
                  <a:srgbClr val="1E1E1E"/>
                </a:solidFill>
              </a:rPr>
              <a:t>Multiclass Target Brand Recognition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Hybrid Operational Pipeline </a:t>
            </a:r>
            <a:r>
              <a:rPr sz="1400">
                <a:solidFill>
                  <a:srgbClr val="1E1E1E"/>
                </a:solidFill>
              </a:rPr>
              <a:t>&amp; Real-World Applications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Industry Impact &amp; Future Scope </a:t>
            </a:r>
            <a:r>
              <a:rPr sz="140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Conclusion </a:t>
            </a:r>
            <a:r>
              <a:rPr sz="1400">
                <a:solidFill>
                  <a:srgbClr val="1E1E1E"/>
                </a:solidFill>
              </a:rPr>
              <a:t>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23-07-2026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CYBERSECURITY CHALLENGE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The Rapid Digitization of Global Commerce: </a:t>
            </a:r>
            <a:r>
              <a:rPr sz="1600">
                <a:solidFill>
                  <a:srgbClr val="1E1E1E"/>
                </a:solidFill>
              </a:rPr>
              <a:t>Over 72% of enterprises maintain online portals, with 27% of global sales executed digitally.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Escalating Scale of Cybercrime: </a:t>
            </a:r>
            <a:r>
              <a:rPr sz="1600">
                <a:solidFill>
                  <a:srgbClr val="1E1E1E"/>
                </a:solidFill>
              </a:rPr>
              <a:t>Observed phishing attacks surpassed 1.13 Million in Q2 2025 (rising from 1.00M in Q1 2025).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Primary Attack Vectors &amp; Delivery: </a:t>
            </a:r>
            <a:r>
              <a:rPr sz="1600">
                <a:solidFill>
                  <a:srgbClr val="1E1E1E"/>
                </a:solidFill>
              </a:rPr>
              <a:t>Fraudulent websites, email campaigns, SMS (smishing), and voice calls (vishing).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Key Problems for Security Teams: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High Volume &amp; Sophistication: </a:t>
            </a:r>
            <a:r>
              <a:rPr sz="1400">
                <a:solidFill>
                  <a:srgbClr val="1E1E1E"/>
                </a:solidFill>
              </a:rPr>
              <a:t>Attackers deploy fast-flux networks and automated site generators.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High Economic Impact: </a:t>
            </a:r>
            <a:r>
              <a:rPr sz="1400">
                <a:solidFill>
                  <a:srgbClr val="1E1E1E"/>
                </a:solidFill>
              </a:rPr>
              <a:t>Credential theft, financial fraud, and severe organizational brand damage.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Passive Defense Limits: </a:t>
            </a:r>
            <a:r>
              <a:rPr sz="1400">
                <a:solidFill>
                  <a:srgbClr val="1E1E1E"/>
                </a:solidFill>
              </a:rPr>
              <a:t>Static blocklists fail against zero-day phishing infrastructure.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23-07-2026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LIMITATIONS OF TRADITIONAL HEURISTICS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The Obfuscation Paradox: </a:t>
            </a:r>
            <a:r>
              <a:rPr sz="1600">
                <a:solidFill>
                  <a:srgbClr val="1E1E1E"/>
                </a:solidFill>
              </a:rPr>
              <a:t>Attackers heavily scramble source code while maintaining identical visual rendering for victims.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Weaknesses of Legacy Detection: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URL &amp; Text Heuristics: </a:t>
            </a:r>
            <a:r>
              <a:rPr sz="1400">
                <a:solidFill>
                  <a:srgbClr val="1E1E1E"/>
                </a:solidFill>
              </a:rPr>
              <a:t>Easily bypassed via dynamic subdomains, FreeURL manipulation, and IP redirection.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HTML Source Code Analysis: </a:t>
            </a:r>
            <a:r>
              <a:rPr sz="1400">
                <a:solidFill>
                  <a:srgbClr val="1E1E1E"/>
                </a:solidFill>
              </a:rPr>
              <a:t>Vulnerable to JavaScript obfuscation, DOM hiding, and dynamic content fetching.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Early Computer Vision (EMD/SIFT/DAISY): </a:t>
            </a:r>
            <a:r>
              <a:rPr sz="1400">
                <a:solidFill>
                  <a:srgbClr val="1E1E1E"/>
                </a:solidFill>
              </a:rPr>
              <a:t>Computationally prohibitive for real-time traffic and lack generalization.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The Imperative for Visual Analysis: </a:t>
            </a:r>
            <a:r>
              <a:rPr sz="1600">
                <a:solidFill>
                  <a:srgbClr val="1E1E1E"/>
                </a:solidFill>
              </a:rPr>
              <a:t>Regardless of code obfuscation, the visual representation must mimic the trusted brand to deceive users.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23-07-2026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THE CORE IDEA: PROPOSED SOLUTION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Visual Phishing Detection &amp; Target Recognition Pipeline: </a:t>
            </a:r>
            <a:r>
              <a:rPr sz="1600">
                <a:solidFill>
                  <a:srgbClr val="1E1E1E"/>
                </a:solidFill>
              </a:rPr>
              <a:t>Treating webpage screenshots as the ground-truth data source for automated security triage.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Dual Research Objectives: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Binary Phishing Detection: </a:t>
            </a:r>
            <a:r>
              <a:rPr sz="1400">
                <a:solidFill>
                  <a:srgbClr val="1E1E1E"/>
                </a:solidFill>
              </a:rPr>
              <a:t>Determine whether a site possesses malicious intent (Phishing vs. Benign).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Multiclass Target Recognition: </a:t>
            </a:r>
            <a:r>
              <a:rPr sz="1400">
                <a:solidFill>
                  <a:srgbClr val="1E1E1E"/>
                </a:solidFill>
              </a:rPr>
              <a:t>Identify the exact brand/institution being impersonated to enable specific incident response.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The Concept in 3 Steps: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INPUT: </a:t>
            </a:r>
            <a:r>
              <a:rPr sz="1400">
                <a:solidFill>
                  <a:srgbClr val="1E1E1E"/>
                </a:solidFill>
              </a:rPr>
              <a:t>Webpage screenshot collected by operational crawler / CERT analyst.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PROCESSING: </a:t>
            </a:r>
            <a:r>
              <a:rPr sz="1400">
                <a:solidFill>
                  <a:srgbClr val="1E1E1E"/>
                </a:solidFill>
              </a:rPr>
              <a:t>Standardized microservices pipeline combining feature extraction &amp; vector matching.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OUTPUT: </a:t>
            </a:r>
            <a:r>
              <a:rPr sz="1400">
                <a:solidFill>
                  <a:srgbClr val="1E1E1E"/>
                </a:solidFill>
              </a:rPr>
              <a:t>Binary threat verdict + exact impersonated brand identification.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23-07-2026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KEY TECHNOLOGY 1: PERCEPTUAL HASHING &amp; FAISS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The Proposed Lightweight Baseline: </a:t>
            </a:r>
            <a:r>
              <a:rPr sz="1600">
                <a:solidFill>
                  <a:srgbClr val="1E1E1E"/>
                </a:solidFill>
              </a:rPr>
              <a:t>Perceptual Hashing (pHash) combined with FAISS similarity search.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Locality-Sensitive Hashing (LSH) Concept: </a:t>
            </a:r>
            <a:r>
              <a:rPr sz="1600">
                <a:solidFill>
                  <a:srgbClr val="1E1E1E"/>
                </a:solidFill>
              </a:rPr>
              <a:t>Unlike cryptographic hashes (MD5/SHA256) where minor edits alter the output, LSH maps visually similar images to close hash buckets.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Discrete Cosine Transform (DCT) pHash: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Frequency Conversion: </a:t>
            </a:r>
            <a:r>
              <a:rPr sz="1400">
                <a:solidFill>
                  <a:srgbClr val="1E1E1E"/>
                </a:solidFill>
              </a:rPr>
              <a:t>Transforms screenshots into frequency domains, preserving structural layout features while stripping noise.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Vector Hashing (pHashF): </a:t>
            </a:r>
            <a:r>
              <a:rPr sz="1400">
                <a:solidFill>
                  <a:srgbClr val="1E1E1E"/>
                </a:solidFill>
              </a:rPr>
              <a:t>Generates real-valued vectors for dense similarity evaluation.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FAISS Library Integration: </a:t>
            </a:r>
            <a:r>
              <a:rPr sz="1600">
                <a:solidFill>
                  <a:srgbClr val="1E1E1E"/>
                </a:solidFill>
              </a:rPr>
              <a:t>Enables high-speed Euclidean and Hamming distance vector indexing across millions of reference targets.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23-07-2026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KEY TECHNOLOGY 2: DEEP LEARNING VISUAL MODELS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State-of-the-Art Deep Learning Approaches: </a:t>
            </a:r>
            <a:r>
              <a:rPr sz="1600">
                <a:solidFill>
                  <a:srgbClr val="1E1E1E"/>
                </a:solidFill>
              </a:rPr>
              <a:t>Automated neural feature extraction replacing handcrafted vision descriptors.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Two Distinct Design Philosophies: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Holistic Layout Analysis (VisualPhishNet): </a:t>
            </a:r>
            <a:r>
              <a:rPr sz="1400">
                <a:solidFill>
                  <a:srgbClr val="1E1E1E"/>
                </a:solidFill>
              </a:rPr>
              <a:t>Evaluates the overall visual 'feel', spatial hierarchy, and layout composition of the entire webpage.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Targeted Object Detection (Phishpedia): </a:t>
            </a:r>
            <a:r>
              <a:rPr sz="1400">
                <a:solidFill>
                  <a:srgbClr val="1E1E1E"/>
                </a:solidFill>
              </a:rPr>
              <a:t>Focuses specifically on high-precision brand logo extraction and identity matching.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The Critical Research Question: </a:t>
            </a:r>
            <a:r>
              <a:rPr sz="1600">
                <a:solidFill>
                  <a:srgbClr val="1E1E1E"/>
                </a:solidFill>
              </a:rPr>
              <a:t>Do complex deep neural networks consistently outperform lightweight baseline algorithms across diverse, real-world datasets?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23-07-2026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DEEP DIVE: VISUAL SIMILARITY VS OBJECT DETECTION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Holistic Layout Matching vs. Logo Object Detection: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Holistic Approach (Layout-Based):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Premise: </a:t>
            </a:r>
            <a:r>
              <a:rPr sz="1400">
                <a:solidFill>
                  <a:srgbClr val="1E1E1E"/>
                </a:solidFill>
              </a:rPr>
              <a:t>Login pages and homepages of a brand share consistent visual styling.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Mechanism: </a:t>
            </a:r>
            <a:r>
              <a:rPr sz="1400">
                <a:solidFill>
                  <a:srgbClr val="1E1E1E"/>
                </a:solidFill>
              </a:rPr>
              <a:t>Convolutional Neural Networks (CNNs) encode the full screenshot into a dense embedding space.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Targeted Approach (Logo-Based):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Premise: </a:t>
            </a:r>
            <a:r>
              <a:rPr sz="1400">
                <a:solidFill>
                  <a:srgbClr val="1E1E1E"/>
                </a:solidFill>
              </a:rPr>
              <a:t>Phishing sites must display authentic brand logos to gain victim trust.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Mechanism: </a:t>
            </a:r>
            <a:r>
              <a:rPr sz="1400">
                <a:solidFill>
                  <a:srgbClr val="1E1E1E"/>
                </a:solidFill>
              </a:rPr>
              <a:t>Bounding box proposal models detect logo regions and compare them against protected reference databases.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23-07-2026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MODEL ARCHITECTURE 1: PHISHPEDIA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Phishpedia Architecture (Lin et al.): </a:t>
            </a:r>
            <a:r>
              <a:rPr sz="1600">
                <a:solidFill>
                  <a:srgbClr val="1E1E1E"/>
                </a:solidFill>
              </a:rPr>
              <a:t>A high-precision two-stage visual brand recognition pipeline.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Stage 1: Logo Region Proposal: </a:t>
            </a:r>
            <a:r>
              <a:rPr sz="1600">
                <a:solidFill>
                  <a:srgbClr val="1E1E1E"/>
                </a:solidFill>
              </a:rPr>
              <a:t>Utilizes a Faster R-CNN object detection model fine-tuned on the Logo-2K+ dataset to crop potential logo bounding boxes.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Stage 2: Siamese Identity Matching: </a:t>
            </a:r>
            <a:r>
              <a:rPr sz="1600">
                <a:solidFill>
                  <a:srgbClr val="1E1E1E"/>
                </a:solidFill>
              </a:rPr>
              <a:t>Passes cropped regions into a Siamese Network to compute distance against a protected brand reference database.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Key Design Choice: </a:t>
            </a:r>
            <a:r>
              <a:rPr sz="1600">
                <a:solidFill>
                  <a:srgbClr val="1E1E1E"/>
                </a:solidFill>
              </a:rPr>
              <a:t>Replaces standard triplet loss with classification-based fine-tuning to effectively distinguish fine-grained brand variants (e.g., 'Adobe' vs. 'Adobe AIR').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23-07-2026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MODEL ARCHITECTURE 2: VISUALPHISHNET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VisualPhishNet Architecture (Abdelnabi et al.): </a:t>
            </a:r>
            <a:r>
              <a:rPr sz="1600">
                <a:solidFill>
                  <a:srgbClr val="1E1E1E"/>
                </a:solidFill>
              </a:rPr>
              <a:t>A holistic webpage layout representation network.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Core Backbone: </a:t>
            </a:r>
            <a:r>
              <a:rPr sz="1600">
                <a:solidFill>
                  <a:srgbClr val="1E1E1E"/>
                </a:solidFill>
              </a:rPr>
              <a:t>Uses a VGG-16 Convolutional Neural Network trained with Triplet Loss.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Triplet Loss Mechanics: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Inputs: </a:t>
            </a:r>
            <a:r>
              <a:rPr sz="1400">
                <a:solidFill>
                  <a:srgbClr val="1E1E1E"/>
                </a:solidFill>
              </a:rPr>
              <a:t>Anchor image (reference site), Positive sample (same brand page), Negative sample (different brand page).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Objective: </a:t>
            </a:r>
            <a:r>
              <a:rPr sz="1400">
                <a:solidFill>
                  <a:srgbClr val="1E1E1E"/>
                </a:solidFill>
              </a:rPr>
              <a:t>Minimizes Euclidean distance between Anchor and Positive while maximizing distance to Negative by a defined margin.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Hard Negative Mining: </a:t>
            </a:r>
            <a:r>
              <a:rPr sz="1600">
                <a:solidFill>
                  <a:srgbClr val="1E1E1E"/>
                </a:solidFill>
              </a:rPr>
              <a:t>Selects visually confusing non-brand pages during training to refine decision boundaries.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23-07-2026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WORKFLOW STEP 1: DATASET CURATION &amp; STANDARDIZATION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Addressing Dataset Fragmentation: </a:t>
            </a:r>
            <a:r>
              <a:rPr sz="1600">
                <a:solidFill>
                  <a:srgbClr val="1E1E1E"/>
                </a:solidFill>
              </a:rPr>
              <a:t>Evaluated across three comprehensive datasets to eliminate single-benchmark bias.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The Three Evaluated Datasets: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CERT Polska Dataset: </a:t>
            </a:r>
            <a:r>
              <a:rPr sz="1400">
                <a:solidFill>
                  <a:srgbClr val="1E1E1E"/>
                </a:solidFill>
              </a:rPr>
              <a:t>15,049 real-world, analyst-verified URLs &amp; screenshots (36 target brands, unaugmented).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Phishpedia (PP) Dataset: </a:t>
            </a:r>
            <a:r>
              <a:rPr sz="1400">
                <a:solidFill>
                  <a:srgbClr val="1E1E1E"/>
                </a:solidFill>
              </a:rPr>
              <a:t>14,500 phishing / 1,542 benign screenshots (56 targets, augmented).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VisualPhishNet (VP) Dataset: </a:t>
            </a:r>
            <a:r>
              <a:rPr sz="1400">
                <a:solidFill>
                  <a:srgbClr val="1E1E1E"/>
                </a:solidFill>
              </a:rPr>
              <a:t>4,644 phishing / 8,835 benign screenshots (144 targets, augmented).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Stratified Data Splitting: </a:t>
            </a:r>
            <a:r>
              <a:rPr sz="1600">
                <a:solidFill>
                  <a:srgbClr val="1E1E1E"/>
                </a:solidFill>
              </a:rPr>
              <a:t>60% Training, 20% Validation, 20% Testing split applied consistently across all target classes.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23-07-2026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WORKFLOW STEP 2: EXPERIMENTAL MICROSERVICES FRAMEWORK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Containerized Microservices Architecture: </a:t>
            </a:r>
            <a:r>
              <a:rPr sz="1600">
                <a:solidFill>
                  <a:srgbClr val="1E1E1E"/>
                </a:solidFill>
              </a:rPr>
              <a:t>Engineered to resolve 'dependency hell' across conflicting deep learning library versions.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Framework Layer Breakdown: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API Gateway (FastAPI): </a:t>
            </a:r>
            <a:r>
              <a:rPr sz="1400">
                <a:solidFill>
                  <a:srgbClr val="1E1E1E"/>
                </a:solidFill>
              </a:rPr>
              <a:t>Acts as central orchestrator, validating Base64 screenshot payloads via Pydantic.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Isolated Model Containers: </a:t>
            </a:r>
            <a:r>
              <a:rPr sz="1400">
                <a:solidFill>
                  <a:srgbClr val="1E1E1E"/>
                </a:solidFill>
              </a:rPr>
              <a:t>Dedicated Docker containers hosting VisualPhishNet, Phishpedia, and Baseline models independently.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Persistence Layer (SQLite &amp; SQLAlchemy): </a:t>
            </a:r>
            <a:r>
              <a:rPr sz="1400">
                <a:solidFill>
                  <a:srgbClr val="1E1E1E"/>
                </a:solidFill>
              </a:rPr>
              <a:t>Captures binary predictions, target attribution labels, and confidence metrics for post-hoc analysis.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Open Source Release: </a:t>
            </a:r>
            <a:r>
              <a:rPr sz="1600">
                <a:solidFill>
                  <a:srgbClr val="1E1E1E"/>
                </a:solidFill>
              </a:rPr>
              <a:t>Shared with the cybersecurity community on GitHub for reproducible benchmarking.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23-07-2026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WORKFLOW STEP 3: THRESHOLDING &amp; EER OPTIMIZATION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Distance-Based Decision Boundaries: </a:t>
            </a:r>
            <a:r>
              <a:rPr sz="1600">
                <a:solidFill>
                  <a:srgbClr val="1E1E1E"/>
                </a:solidFill>
              </a:rPr>
              <a:t>Classification relies on embedding distance to nearest protected target.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Two-Stage Threshold Optimization Strategy: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Coarse Search: </a:t>
            </a:r>
            <a:r>
              <a:rPr sz="1400">
                <a:solidFill>
                  <a:srgbClr val="1E1E1E"/>
                </a:solidFill>
              </a:rPr>
              <a:t>Evaluates distance thresholds from 0 to maximum validation distance in steps of 10.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Fine-Grained Search: </a:t>
            </a:r>
            <a:r>
              <a:rPr sz="1400">
                <a:solidFill>
                  <a:srgbClr val="1E1E1E"/>
                </a:solidFill>
              </a:rPr>
              <a:t>Refines search within Mean ± 1 Std Dev in single-unit increments.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Equal Error Rate (EER) Point: </a:t>
            </a:r>
            <a:r>
              <a:rPr sz="1600">
                <a:solidFill>
                  <a:srgbClr val="1E1E1E"/>
                </a:solidFill>
              </a:rPr>
              <a:t>Identifies the exact threshold where False Positive Rate (FPR) equals False Negative Rate (FNR).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Optimal Threshold Findings: </a:t>
            </a:r>
            <a:r>
              <a:rPr sz="1600">
                <a:solidFill>
                  <a:srgbClr val="1E1E1E"/>
                </a:solidFill>
              </a:rPr>
              <a:t>CERT Polska = 8.00 | Phishpedia (PP) = 3.00 | VisualPhishNet (VP) = 50.00.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23-07-2026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WORKFLOW STEP 4: BINARY CLASSIFICATION &amp; FEATURE COLLAPSE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Binary Detection Results (Phishing vs. Benign):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Baseline (pHash) Superiority: </a:t>
            </a:r>
            <a:r>
              <a:rPr sz="1400">
                <a:solidFill>
                  <a:srgbClr val="1E1E1E"/>
                </a:solidFill>
              </a:rPr>
              <a:t>Achieved top binary performance across all datasets (PP F1 = 0.9539, VP ROC AUC = 0.8201, VP MCC = 0.6294).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Phishpedia Binary Performance: </a:t>
            </a:r>
            <a:r>
              <a:rPr sz="1400">
                <a:solidFill>
                  <a:srgbClr val="1E1E1E"/>
                </a:solidFill>
              </a:rPr>
              <a:t>Strong on PP dataset (F1 = 0.9062), but struggled on CERT Polska (F1 = 0.1598) due to strict logo dependence.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VisualPhishNet Failure &amp; Feature Collapse: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Low Metrics: </a:t>
            </a:r>
            <a:r>
              <a:rPr sz="1400">
                <a:solidFill>
                  <a:srgbClr val="1E1E1E"/>
                </a:solidFill>
              </a:rPr>
              <a:t>Achieved F1 of only 0.1673 on PP dataset and negative MCC values (-0.6160).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Root Cause: </a:t>
            </a:r>
            <a:r>
              <a:rPr sz="1400">
                <a:solidFill>
                  <a:srgbClr val="1E1E1E"/>
                </a:solidFill>
              </a:rPr>
              <a:t>Overfitted to synthetic data artifacts; 85% of detected phishing samples collapsed into just 3 target clusters (Adobe, Absa, Paschoalotto).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23-07-2026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WORKFLOW STEP 5: MULTICLASS BRAND ATTRIBUTION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Multiclass Impersonation Target Identification: </a:t>
            </a:r>
            <a:r>
              <a:rPr sz="1600">
                <a:solidFill>
                  <a:srgbClr val="1E1E1E"/>
                </a:solidFill>
              </a:rPr>
              <a:t>Evaluating exact brand attribution among 36 to 144 target classes.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Phishpedia Dominance in Target Recognition: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High Identification Rate: </a:t>
            </a:r>
            <a:r>
              <a:rPr sz="1400">
                <a:solidFill>
                  <a:srgbClr val="1E1E1E"/>
                </a:solidFill>
              </a:rPr>
              <a:t>Maintained &gt;0.90 Identification Rate across ALL datasets (CERT = 0.9845, VP = 0.9270, PP = 0.9154).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Robustness: </a:t>
            </a:r>
            <a:r>
              <a:rPr sz="1400">
                <a:solidFill>
                  <a:srgbClr val="1E1E1E"/>
                </a:solidFill>
              </a:rPr>
              <a:t>Logo region extraction effectively handles brand variants regardless of site layout changes.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Baseline Multiclass Performance: </a:t>
            </a:r>
            <a:r>
              <a:rPr sz="1600">
                <a:solidFill>
                  <a:srgbClr val="1E1E1E"/>
                </a:solidFill>
              </a:rPr>
              <a:t>Achieved solid F1 Micro (VP = 0.7009) but lower Identification Rate (0.2554 - 0.5687), proving better suited for binary filtering than exact brand attribution.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23-07-2026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EVALUATING THE OUTPUT: METRICS &amp; BENCHMARKS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Comprehensive Evaluation Metrics: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Binary Metrics: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F1 Score &amp; MCC: </a:t>
            </a:r>
            <a:r>
              <a:rPr sz="1400">
                <a:solidFill>
                  <a:srgbClr val="1E1E1E"/>
                </a:solidFill>
              </a:rPr>
              <a:t>Matthews Correlation Coefficient (MCC) accounts for heavy class imbalance across all 4 confusion matrix quadrants.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ROC AUC: </a:t>
            </a:r>
            <a:r>
              <a:rPr sz="1400">
                <a:solidFill>
                  <a:srgbClr val="1E1E1E"/>
                </a:solidFill>
              </a:rPr>
              <a:t>Measures class separability independent of fixed decision cut-off thresholds.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Multiclass Metrics: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Macro F1 vs. Micro F1: </a:t>
            </a:r>
            <a:r>
              <a:rPr sz="1400">
                <a:solidFill>
                  <a:srgbClr val="1E1E1E"/>
                </a:solidFill>
              </a:rPr>
              <a:t>Macro F1 treats all brands equally (protecting niche targets); Micro F1 measures global volume accuracy.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Identification Rate (Id / Rep_TP): </a:t>
            </a:r>
            <a:r>
              <a:rPr sz="1600">
                <a:solidFill>
                  <a:srgbClr val="1E1E1E"/>
                </a:solidFill>
              </a:rPr>
              <a:t>Measures recall of correct brand attribution strictly on correctly detected phishing pages.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23-07-2026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SYSTEM WORKFLOW &amp; ARCHITECTURE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920240" cy="3840480"/>
          </a:xfrm>
          <a:prstGeom prst="round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Inputs
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Product/URL
Screenshots
(CERT / PP / VP)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97480" y="3474720"/>
            <a:ext cx="182880" cy="3657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6080" y="1828800"/>
            <a:ext cx="1920240" cy="3840480"/>
          </a:xfrm>
          <a:prstGeom prst="round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Data Standardization
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Stratified Splitting
(60 / 20 / 20)
Augmentation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92040" y="3474720"/>
            <a:ext cx="182880" cy="3657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20640" y="1828800"/>
            <a:ext cx="1920240" cy="3840480"/>
          </a:xfrm>
          <a:prstGeom prst="roundRect">
            <a:avLst/>
          </a:prstGeom>
          <a:solidFill>
            <a:srgbClr val="7D3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API Gateway
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FastAPI Orchestrator
Base64 Validation
Pydantic Schema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6600" y="3474720"/>
            <a:ext cx="182880" cy="3657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199" y="1828800"/>
            <a:ext cx="1920240" cy="3840480"/>
          </a:xfrm>
          <a:prstGeom prst="round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Method Containers
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Isolated Models
(VisualPhishNet,
Phishpedia, pHash)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81159" y="3474720"/>
            <a:ext cx="182880" cy="3657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09760" y="1828800"/>
            <a:ext cx="1920240" cy="3840480"/>
          </a:xfrm>
          <a:prstGeom prst="roundRect">
            <a:avLst/>
          </a:prstGeom>
          <a:solidFill>
            <a:srgbClr val="A0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Output &amp; Persistence
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Binary Threat Verdict
Target Attribution
SQLite / DB Logging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23-07-2026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EXPERIMENTAL RESULTS &amp; COMPARATIVE TABLE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1554480"/>
                <a:gridCol w="1554480"/>
                <a:gridCol w="1554480"/>
                <a:gridCol w="1767535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F1 Micro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F1 Macro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MCC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Identification Rate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CERT Polska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VisualPhishNet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0.3654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0.1481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0.0733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0.7093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CERT Polska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Phishpedia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0.5482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0.2621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0.2013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5000"/>
                          </a:solidFill>
                        </a:rPr>
                        <a:t>0.9845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CERT Polska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Baseline (pHash)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5000"/>
                          </a:solidFill>
                        </a:rPr>
                        <a:t>0.5823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0.1670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0.3668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0.2554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VisualPhishNet (VP)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VisualPhishNet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0.3924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0.0047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0.0694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0.0037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VisualPhishNet (VP)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Phishpedia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0.3782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0.3073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0.2569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5000"/>
                          </a:solidFill>
                        </a:rPr>
                        <a:t>0.9270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VisualPhishNet (VP)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Baseline (pHash)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5000"/>
                          </a:solidFill>
                        </a:rPr>
                        <a:t>0.7009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0.4111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0.5089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0.5679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Phishpedia (PP)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VisualPhishNet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0.1003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0.0334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0.0111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Phishpedia (PP)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Phishpedia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5000"/>
                          </a:solidFill>
                        </a:rPr>
                        <a:t>0.7691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0.2894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0.7384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5000"/>
                          </a:solidFill>
                        </a:rPr>
                        <a:t>0.9154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Phishpedia (PP)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Baseline (pHash)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0.5467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0.3591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0.4939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0.5687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23-07-2026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REAL-WORLD APPLICATIONS &amp; CERT CASE STUDY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Operational Deployment Scenarios: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National CSIRT / CERT Triage Pipeline: </a:t>
            </a:r>
            <a:r>
              <a:rPr sz="1400">
                <a:solidFill>
                  <a:srgbClr val="1E1E1E"/>
                </a:solidFill>
              </a:rPr>
              <a:t>Processing 15,000+ suspicious regional URLs daily with automated priority scoring.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Brand Protection &amp; Anti-Phishing Monitoring: </a:t>
            </a:r>
            <a:r>
              <a:rPr sz="1400">
                <a:solidFill>
                  <a:srgbClr val="1E1E1E"/>
                </a:solidFill>
              </a:rPr>
              <a:t>Enables automated takedown notifications to impersonated institutions.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Browser Security Extensions: </a:t>
            </a:r>
            <a:r>
              <a:rPr sz="1400">
                <a:solidFill>
                  <a:srgbClr val="1E1E1E"/>
                </a:solidFill>
              </a:rPr>
              <a:t>Real-time client-side pHash verification before user credential submission.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CERT Polska Real-World Insights: </a:t>
            </a:r>
            <a:r>
              <a:rPr sz="1600">
                <a:solidFill>
                  <a:srgbClr val="1E1E1E"/>
                </a:solidFill>
              </a:rPr>
              <a:t>Unaugmented, analyst-verified threat data confirmed that baseline perceptual hashing provides superior stability over complex CNNs in real-time triage.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23-07-2026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INDUSTRY IMPACT &amp; OPERATIONAL EFFICIENCY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Shifting the Paradigm of Phishing Defense: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Computational Efficiency: </a:t>
            </a:r>
            <a:r>
              <a:rPr sz="1400">
                <a:solidFill>
                  <a:srgbClr val="1E1E1E"/>
                </a:solidFill>
              </a:rPr>
              <a:t>VisualPhishNet requires 8-10 hours training per dataset; Baseline pHash &amp; Phishpedia complete training in ~20 minutes.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Democratization: </a:t>
            </a:r>
            <a:r>
              <a:rPr sz="1400">
                <a:solidFill>
                  <a:srgbClr val="1E1E1E"/>
                </a:solidFill>
              </a:rPr>
              <a:t>Provides open-source containerized evaluation tools accessible to small SOC teams without heavy GPU clusters.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Operational Agility: </a:t>
            </a:r>
            <a:r>
              <a:rPr sz="1400">
                <a:solidFill>
                  <a:srgbClr val="1E1E1E"/>
                </a:solidFill>
              </a:rPr>
              <a:t>Allows security teams to instantly update reference logo databases without full model retraining.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Analyst Fatigue Reduction: </a:t>
            </a:r>
            <a:r>
              <a:rPr sz="1600">
                <a:solidFill>
                  <a:srgbClr val="1E1E1E"/>
                </a:solidFill>
              </a:rPr>
              <a:t>Automates initial filtering, reserving human investigation for high-confidence brand matches.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23-07-2026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FUTURE SCOPE AND POTENTIAL IMPROVEMENTS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What's Next for Visual Phishing Detection?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K-Fold Cross-Validation Framework: </a:t>
            </a:r>
            <a:r>
              <a:rPr sz="1400">
                <a:solidFill>
                  <a:srgbClr val="1E1E1E"/>
                </a:solidFill>
              </a:rPr>
              <a:t>Incorporating rigorous cross-validation to provide formal uncertainty quantification.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Multimodal Deep Fusion: </a:t>
            </a:r>
            <a:r>
              <a:rPr sz="1400">
                <a:solidFill>
                  <a:srgbClr val="1E1E1E"/>
                </a:solidFill>
              </a:rPr>
              <a:t>Integrating visual pHash/Phishpedia features with DOM Graph Neural Networks (GNN) and LLM reasoning.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Temporal Campaign Tracking: </a:t>
            </a:r>
            <a:r>
              <a:rPr sz="1400">
                <a:solidFill>
                  <a:srgbClr val="1E1E1E"/>
                </a:solidFill>
              </a:rPr>
              <a:t>Grouping detection results by time windows to model long-term phishing infrastructure evolution.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Adversarial Robustness: </a:t>
            </a:r>
            <a:r>
              <a:rPr sz="1400">
                <a:solidFill>
                  <a:srgbClr val="1E1E1E"/>
                </a:solidFill>
              </a:rPr>
              <a:t>Enhancing resilience against adversarial visual perturbations (watermarking, subtle color shifts).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23-07-2026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CONCLUSION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Summary of Key Findings: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Baseline (pHash) Superiority: </a:t>
            </a:r>
            <a:r>
              <a:rPr sz="1400">
                <a:solidFill>
                  <a:srgbClr val="1E1E1E"/>
                </a:solidFill>
              </a:rPr>
              <a:t>Perceptual hashing delivers the most robust binary classification across all benchmark datasets.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Phishpedia Target Recognition: </a:t>
            </a:r>
            <a:r>
              <a:rPr sz="1400">
                <a:solidFill>
                  <a:srgbClr val="1E1E1E"/>
                </a:solidFill>
              </a:rPr>
              <a:t>Consistently achieves &gt;0.90 Identification Rate, proving ideal for brand attribution.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VisualPhishNet Vulnerability: </a:t>
            </a:r>
            <a:r>
              <a:rPr sz="1400">
                <a:solidFill>
                  <a:srgbClr val="1E1E1E"/>
                </a:solidFill>
              </a:rPr>
              <a:t>Suffers from feature collapse when trained on synthetic/augmented data distributions.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The Recommended Operational Hybrid Architecture: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Stage 1 (Rapid Filtering): </a:t>
            </a:r>
            <a:r>
              <a:rPr sz="1400">
                <a:solidFill>
                  <a:srgbClr val="1E1E1E"/>
                </a:solidFill>
              </a:rPr>
              <a:t>Use Perceptual Hashing (pHash + FAISS) for instant binary phishing detection.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Stage 2 (Brand Identification): </a:t>
            </a:r>
            <a:r>
              <a:rPr sz="1400">
                <a:solidFill>
                  <a:srgbClr val="1E1E1E"/>
                </a:solidFill>
              </a:rPr>
              <a:t>Pass detected threats to Phishpedia for precise impersonation target recognition.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23-07-2026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REFERENCES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Jarczewski, M., Białczak, P., &amp; Mazurczyk, W. </a:t>
            </a:r>
            <a:r>
              <a:rPr sz="1600">
                <a:solidFill>
                  <a:srgbClr val="1E1E1E"/>
                </a:solidFill>
              </a:rPr>
              <a:t>(2026). Phishing Website Impersonation: Comparative Analysis of Detection and Target Recognition Methods. MDPI Applied Sciences, 16(2), 640. DOI: 10.3390/app16020640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Lin, Y., Liu, R., Divakaran, D. M., et al. </a:t>
            </a:r>
            <a:r>
              <a:rPr sz="1600">
                <a:solidFill>
                  <a:srgbClr val="1E1E1E"/>
                </a:solidFill>
              </a:rPr>
              <a:t>(2021). Phishpedia: A Hybrid Deep Learning Based Approach to Visually Identify Phishing Webpages. In 30th USENIX Security Symposium (pp. 3793-3810).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Abdelnabi, S., Krombholz, K., &amp; Fritz, M. </a:t>
            </a:r>
            <a:r>
              <a:rPr sz="1600">
                <a:solidFill>
                  <a:srgbClr val="1E1E1E"/>
                </a:solidFill>
              </a:rPr>
              <a:t>(2020). VisualPhishNet: Zero-Day Phishing Website Detection by Visual Similarity. In ACM Conference on Computer and Communications Security (CCS) (pp. 1633-1650).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Douze, M., Guzhva, A., Deng, C., et al. </a:t>
            </a:r>
            <a:r>
              <a:rPr sz="1600">
                <a:solidFill>
                  <a:srgbClr val="1E1E1E"/>
                </a:solidFill>
              </a:rPr>
              <a:t>(2025). The Faiss Library. arXiv preprint arXiv:2401.08281.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Framework Code Repository: </a:t>
            </a:r>
            <a:r>
              <a:rPr sz="1600">
                <a:solidFill>
                  <a:srgbClr val="1E1E1E"/>
                </a:solidFill>
              </a:rPr>
              <a:t>https://github.com/Percival33/phish-target-recognition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23-07-2026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72865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E1E1E"/>
                </a:solidFill>
                <a:latin typeface="Calibri"/>
              </a:rPr>
              <a:t>THANK YOU</a:t>
            </a:r>
          </a:p>
          <a:p>
            <a:pPr algn="ctr"/>
            <a:r>
              <a:rPr sz="2000">
                <a:solidFill>
                  <a:srgbClr val="646464"/>
                </a:solidFill>
                <a:latin typeface="Calibri"/>
              </a:rPr>
              <a:t>
Questions &amp; Comments 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23-07-2026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