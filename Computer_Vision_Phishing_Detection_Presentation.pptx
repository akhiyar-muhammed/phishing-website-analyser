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5943600" cy="10058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200" b="1">
                <a:solidFill>
                  <a:srgbClr val="003366"/>
                </a:solidFill>
                <a:latin typeface="Georgia"/>
              </a:rPr>
              <a:t>Adi Shankara
</a:t>
            </a:r>
            <a:r>
              <a:rPr sz="1000" b="1">
                <a:solidFill>
                  <a:srgbClr val="1E1E1E"/>
                </a:solidFill>
              </a:rPr>
              <a:t>INSTITUTE OF ENGINEERING AND TECHNOLOGY
</a:t>
            </a:r>
            <a:r>
              <a:rPr sz="850">
                <a:solidFill>
                  <a:srgbClr val="646464"/>
                </a:solidFill>
              </a:rPr>
              <a:t>Approved by AICTE &amp; Affiliated to APJ Abdul Kalam Technological University
(Owned by Adi Sankara Trust)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0" y="365760"/>
            <a:ext cx="4572000" cy="82296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DEPARTMENT OF
ARTIFICIAL INTELLIGENCE AND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107286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E1E1E"/>
                </a:solidFill>
                <a:latin typeface="Calibri"/>
              </a:rPr>
              <a:t>COMPUTER VISION-BASED PHISHING DETECTION
USING WEBSITE SCREENSHOTS</a:t>
            </a:r>
          </a:p>
          <a:p>
            <a:pPr algn="ctr"/>
            <a:r>
              <a:rPr sz="1500" b="1">
                <a:solidFill>
                  <a:srgbClr val="C05000"/>
                </a:solidFill>
              </a:rPr>
              <a:t>A Comparative Analysis, Innovative Dual-Stage Neural Architecture, and Real-World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822960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Presented By : </a:t>
            </a:r>
            <a:r>
              <a:rPr sz="1500">
                <a:solidFill>
                  <a:srgbClr val="1E1E1E"/>
                </a:solidFill>
              </a:rPr>
              <a:t>Marcin Jarczewski, Piotr Białczak, Wojciech Mazurczyk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Reg No. : </a:t>
            </a:r>
            <a:r>
              <a:rPr sz="1500">
                <a:solidFill>
                  <a:srgbClr val="1E1E1E"/>
                </a:solidFill>
              </a:rPr>
              <a:t>ASI22CA035 / CERT Polska &amp; WUT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Guide : </a:t>
            </a:r>
            <a:r>
              <a:rPr sz="1500">
                <a:solidFill>
                  <a:srgbClr val="1E1E1E"/>
                </a:solidFill>
              </a:rPr>
              <a:t>Asst. Prof. Asha Rose Thomas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1E1E1E"/>
                </a:solidFill>
              </a:rPr>
              <a:t>Semester : </a:t>
            </a:r>
            <a:r>
              <a:rPr sz="1500">
                <a:solidFill>
                  <a:srgbClr val="1E1E1E"/>
                </a:solidFill>
              </a:rPr>
              <a:t>S7, CSE(AI)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CONTENTS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Introduction &amp; Cybersecurity Threat </a:t>
            </a:r>
            <a:r>
              <a:rPr sz="1400">
                <a:solidFill>
                  <a:srgbClr val="1E1E1E"/>
                </a:solidFill>
              </a:rPr>
              <a:t>in Modern Web Ecosystems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The Need for Computer Vision: </a:t>
            </a:r>
            <a:r>
              <a:rPr sz="1400">
                <a:solidFill>
                  <a:srgbClr val="1E1E1E"/>
                </a:solidFill>
              </a:rPr>
              <a:t>Bypassing Code &amp; DOM Obfuscation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Literature Review &amp; Existing Papers: </a:t>
            </a:r>
            <a:r>
              <a:rPr sz="1400">
                <a:solidFill>
                  <a:srgbClr val="1E1E1E"/>
                </a:solidFill>
              </a:rPr>
              <a:t>VisualPhishNet, Phishpedia &amp; EMD/SIFT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Holistic Layout Matching vs. </a:t>
            </a:r>
            <a:r>
              <a:rPr sz="1400">
                <a:solidFill>
                  <a:srgbClr val="1E1E1E"/>
                </a:solidFill>
              </a:rPr>
              <a:t>Targeted Logo Object Detection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Architectural Deep Dive 1: </a:t>
            </a:r>
            <a:r>
              <a:rPr sz="1400">
                <a:solidFill>
                  <a:srgbClr val="1E1E1E"/>
                </a:solidFill>
              </a:rPr>
              <a:t>VisualPhishNet (Triplet Loss VGG-16)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Architectural Deep Dive 2: </a:t>
            </a:r>
            <a:r>
              <a:rPr sz="1400">
                <a:solidFill>
                  <a:srgbClr val="1E1E1E"/>
                </a:solidFill>
              </a:rPr>
              <a:t>Phishpedia (Faster R-CNN + Siamese)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Proposed Baseline Method: </a:t>
            </a:r>
            <a:r>
              <a:rPr sz="1400">
                <a:solidFill>
                  <a:srgbClr val="1E1E1E"/>
                </a:solidFill>
              </a:rPr>
              <a:t>Perceptual Hashing (pHash + DCT + FAISS)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Vision Transformer (ViT) Integration: </a:t>
            </a:r>
            <a:r>
              <a:rPr sz="1400">
                <a:solidFill>
                  <a:srgbClr val="1E1E1E"/>
                </a:solidFill>
              </a:rPr>
              <a:t>Patch Attention &amp; Spatial Feature Maps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Our Innovation: </a:t>
            </a:r>
            <a:r>
              <a:rPr sz="1400">
                <a:solidFill>
                  <a:srgbClr val="1E1E1E"/>
                </a:solidFill>
              </a:rPr>
              <a:t>Dual-Stage Hybrid Visual Triage Architecture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Experimental Framework &amp; Datasets: </a:t>
            </a:r>
            <a:r>
              <a:rPr sz="1400">
                <a:solidFill>
                  <a:srgbClr val="1E1E1E"/>
                </a:solidFill>
              </a:rPr>
              <a:t>CERT Polska, PP, VP &amp; LNU-Phish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Distance Thresholding &amp; EER: </a:t>
            </a:r>
            <a:r>
              <a:rPr sz="1400">
                <a:solidFill>
                  <a:srgbClr val="1E1E1E"/>
                </a:solidFill>
              </a:rPr>
              <a:t>Equal Error Rate Optimization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Comparative Performance Analysis: </a:t>
            </a:r>
            <a:r>
              <a:rPr sz="1400">
                <a:solidFill>
                  <a:srgbClr val="1E1E1E"/>
                </a:solidFill>
              </a:rPr>
              <a:t>Binary Classification &amp; Feature Collapse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Comparative Performance Analysis: </a:t>
            </a:r>
            <a:r>
              <a:rPr sz="1400">
                <a:solidFill>
                  <a:srgbClr val="1E1E1E"/>
                </a:solidFill>
              </a:rPr>
              <a:t>Multiclass Impersonation Target Identification</a:t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Real-World Deployment &amp; Industry Impact </a:t>
            </a:r>
            <a:r>
              <a:rPr sz="14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300"/>
              </a:spcAft>
            </a:pPr>
            <a:r>
              <a:rPr sz="1400" b="1">
                <a:solidFill>
                  <a:srgbClr val="1E1E1E"/>
                </a:solidFill>
              </a:rPr>
              <a:t>• </a:t>
            </a:r>
            <a:r>
              <a:rPr sz="1400" b="1">
                <a:solidFill>
                  <a:srgbClr val="1E1E1E"/>
                </a:solidFill>
              </a:rPr>
              <a:t>Future Scope &amp; Conclusion </a:t>
            </a:r>
            <a:r>
              <a:rPr sz="1400">
                <a:solidFill>
                  <a:srgbClr val="1E1E1E"/>
                </a:solidFill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INTRODUCTION &amp; PHISHING ESCALATION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Global Scale of Online Digitization: </a:t>
            </a:r>
            <a:r>
              <a:rPr sz="1600">
                <a:solidFill>
                  <a:srgbClr val="1E1E1E"/>
                </a:solidFill>
              </a:rPr>
              <a:t>Over 72% of enterprises maintain dedicated web applications, handling ~27% of global sales.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Escalating Threat Landscape: </a:t>
            </a:r>
            <a:r>
              <a:rPr sz="1600">
                <a:solidFill>
                  <a:srgbClr val="1E1E1E"/>
                </a:solidFill>
              </a:rPr>
              <a:t>Observed phishing attacks exceeded 1.13 million in Q2 2025 (APWG Security Report).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Multi-Channel Delivery Vectors: </a:t>
            </a:r>
            <a:r>
              <a:rPr sz="1600">
                <a:solidFill>
                  <a:srgbClr val="1E1E1E"/>
                </a:solidFill>
              </a:rPr>
              <a:t>Spoofed landing pages distributed via phishing emails, SMS (smishing), and vishing calls.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Core Security Challenge: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Brand Impersonation: </a:t>
            </a:r>
            <a:r>
              <a:rPr sz="1400">
                <a:solidFill>
                  <a:srgbClr val="1E1E1E"/>
                </a:solidFill>
              </a:rPr>
              <a:t>Attackers mimic financial portals (PayPal, Banks), cloud providers (Microsoft, Google), and logistics.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Zero-Day Infrastructure: </a:t>
            </a:r>
            <a:r>
              <a:rPr sz="1400">
                <a:solidFill>
                  <a:srgbClr val="1E1E1E"/>
                </a:solidFill>
              </a:rPr>
              <a:t>Fast-flux domain generation renders static IP/URL blocklists ineffective within hours.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THE NEED FOR COMPUTER VISION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Obfuscation Paradox: </a:t>
            </a:r>
            <a:r>
              <a:rPr sz="1600">
                <a:solidFill>
                  <a:srgbClr val="1E1E1E"/>
                </a:solidFill>
              </a:rPr>
              <a:t>Attackers scramble underlying HTML/JavaScript source code while preserving clean visual rendering for victims.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Inherent Vulnerabilities of Legacy Heuristics: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URL &amp; Domain Analysis: </a:t>
            </a:r>
            <a:r>
              <a:rPr sz="1400">
                <a:solidFill>
                  <a:srgbClr val="1E1E1E"/>
                </a:solidFill>
              </a:rPr>
              <a:t>Bypassed via subdomains, FreeURL manipulation, and internationalized domain name (IDN) homoglyphs.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HTML/DOM Code Parsing: </a:t>
            </a:r>
            <a:r>
              <a:rPr sz="1400">
                <a:solidFill>
                  <a:srgbClr val="1E1E1E"/>
                </a:solidFill>
              </a:rPr>
              <a:t>Vulnerable to JavaScript dynamic rendering, DOM element hiding, and canvas-based rendering.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The Computer Vision Premise: </a:t>
            </a:r>
            <a:r>
              <a:rPr sz="1600">
                <a:solidFill>
                  <a:srgbClr val="1E1E1E"/>
                </a:solidFill>
              </a:rPr>
              <a:t>Regardless of underlying code scrambling, the rendered webpage screenshot MUST remain visually identical to the authentic brand to successfully deceive human victims.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LITERATURE REVIEW &amp; EXISTING PAPERS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Evolution of Vision-Based Phishing Detection: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Generation 1 (Classical Vision Descriptors): </a:t>
            </a:r>
            <a:r>
              <a:rPr sz="1400">
                <a:solidFill>
                  <a:srgbClr val="1E1E1E"/>
                </a:solidFill>
              </a:rPr>
              <a:t>Earth Mover's Distance (EMD), SIFT, and DAISY descriptors comparing color histograms. Computationally heavy and poor generalization to modern dynamic layouts.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Generation 2 (Holistic Layout Deep Learning): </a:t>
            </a:r>
            <a:r>
              <a:rPr sz="1400">
                <a:solidFill>
                  <a:srgbClr val="1E1E1E"/>
                </a:solidFill>
              </a:rPr>
              <a:t>VisualPhishNet (Abdelnabi et al., ACM CCS 2020) using VGG-16 Triplet Loss CNNs to learn a unified visual 'feel' across brand pages.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Generation 3 (Targeted Object &amp; Logo Recognition): </a:t>
            </a:r>
            <a:r>
              <a:rPr sz="1400">
                <a:solidFill>
                  <a:srgbClr val="1E1E1E"/>
                </a:solidFill>
              </a:rPr>
              <a:t>Phishpedia (Lin et al., USENIX Security 2021) using Faster R-CNN logo region proposal + Siamese brand matching.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Generation 4 (Transformers &amp; Perceptual Hashing): </a:t>
            </a:r>
            <a:r>
              <a:rPr sz="1600">
                <a:solidFill>
                  <a:srgbClr val="1E1E1E"/>
                </a:solidFill>
              </a:rPr>
              <a:t>Vision Transformers (ViT) and lightweight Perceptual Hashing (pHash + FAISS) for rapid binary triage.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HOLISTIC LAYOUT VS LOGO OBJECT DETECTION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Two Competing Vision Philosophies in Literature: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1. Holistic Layout Analysis (VisualPhishNet):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Approach: </a:t>
            </a:r>
            <a:r>
              <a:rPr sz="1400">
                <a:solidFill>
                  <a:srgbClr val="1E1E1E"/>
                </a:solidFill>
              </a:rPr>
              <a:t>Treats the entire screenshot image as input to encode spatial composition, color schemes, and layout geometry.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Advantage: </a:t>
            </a:r>
            <a:r>
              <a:rPr sz="1400">
                <a:solidFill>
                  <a:srgbClr val="1E1E1E"/>
                </a:solidFill>
              </a:rPr>
              <a:t>Does not require explicit logo detection.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2. Targeted Object Detection (Phishpedia):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Approach: </a:t>
            </a:r>
            <a:r>
              <a:rPr sz="1400">
                <a:solidFill>
                  <a:srgbClr val="1E1E1E"/>
                </a:solidFill>
              </a:rPr>
              <a:t>Isolates high-risk logo regions using object detection bounding boxes, then verifies brand identity.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Advantage: </a:t>
            </a:r>
            <a:r>
              <a:rPr sz="1400">
                <a:solidFill>
                  <a:srgbClr val="1E1E1E"/>
                </a:solidFill>
              </a:rPr>
              <a:t>High precision brand attribution regardless of overall page layout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EXISTING PAPER 1: VISUALPHISHNET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VisualPhishNet Architecture (Abdelnabi et al., 2020):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CNN Backbone: </a:t>
            </a:r>
            <a:r>
              <a:rPr sz="1600">
                <a:solidFill>
                  <a:srgbClr val="1E1E1E"/>
                </a:solidFill>
              </a:rPr>
              <a:t>VGG-16 network fine-tuned on webpage screenshots.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Triplet Loss Training Objective: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Loss Function: </a:t>
            </a:r>
            <a:r>
              <a:rPr sz="1400">
                <a:solidFill>
                  <a:srgbClr val="1E1E1E"/>
                </a:solidFill>
              </a:rPr>
              <a:t>Minimizes Euclidean distance between Anchor (reference page) and Positive (same brand page), while maximizing distance to Negative (different brand page).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Hard Negative Mining: </a:t>
            </a:r>
            <a:r>
              <a:rPr sz="1400">
                <a:solidFill>
                  <a:srgbClr val="1E1E1E"/>
                </a:solidFill>
              </a:rPr>
              <a:t>Selects visually confusing non-target pages during training to enforce tight decision margins.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Decision Metric: </a:t>
            </a:r>
            <a:r>
              <a:rPr sz="1600">
                <a:solidFill>
                  <a:srgbClr val="1E1E1E"/>
                </a:solidFill>
              </a:rPr>
              <a:t>Calculates embedding distance against protected targets and applies an Equal Error Rate (EER) threshold.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EXISTING PAPER 2: PHISHPEDIA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Phishpedia Architecture (Lin et al., 2021):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Stage 1: Logo Region Proposal: </a:t>
            </a:r>
            <a:r>
              <a:rPr sz="1600">
                <a:solidFill>
                  <a:srgbClr val="1E1E1E"/>
                </a:solidFill>
              </a:rPr>
              <a:t>Uses a Faster R-CNN object detection network trained on Logo-2K+ to detect potential logo bounding boxes on screenshots.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Stage 2: Siamese Identity Matching: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Network: </a:t>
            </a:r>
            <a:r>
              <a:rPr sz="1400">
                <a:solidFill>
                  <a:srgbClr val="1E1E1E"/>
                </a:solidFill>
              </a:rPr>
              <a:t>Passes cropped logo regions through a Siamese network to compare against reference brand logos.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Fine-Grained Classification: </a:t>
            </a:r>
            <a:r>
              <a:rPr sz="1400">
                <a:solidFill>
                  <a:srgbClr val="1E1E1E"/>
                </a:solidFill>
              </a:rPr>
              <a:t>Replaces standard triplet loss with classification-based fine-tuning to differentiate subtle brand variants (e.g. 'Adobe' vs. 'Adobe AIR').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Strengths: </a:t>
            </a:r>
            <a:r>
              <a:rPr sz="1600">
                <a:solidFill>
                  <a:srgbClr val="1E1E1E"/>
                </a:solidFill>
              </a:rPr>
              <a:t>Consistently high target recognition recall across unseen page layouts.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BASELINE METHOD: PERCEPTUAL HASHING &amp; FAISS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Perceptual Hashing Baseline (pHash / pHashF + FAISS):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Locality-Sensitive Hashing (LSH) Concept: </a:t>
            </a:r>
            <a:r>
              <a:rPr sz="1600">
                <a:solidFill>
                  <a:srgbClr val="1E1E1E"/>
                </a:solidFill>
              </a:rPr>
              <a:t>Unlike cryptographic hashes (MD5/SHA-256) where 1 bit changes the entire hash, pHash maps visually similar screenshots to neighboring hash buckets.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Discrete Cosine Transform (DCT) pHash Engine: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Frequency Conversion: </a:t>
            </a:r>
            <a:r>
              <a:rPr sz="1400">
                <a:solidFill>
                  <a:srgbClr val="1E1E1E"/>
                </a:solidFill>
              </a:rPr>
              <a:t>Converts screenshots into low-frequency DCT matrices, capturing structural layout while discarding high-frequency noise.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Vector Hashing (pHashF): </a:t>
            </a:r>
            <a:r>
              <a:rPr sz="1400">
                <a:solidFill>
                  <a:srgbClr val="1E1E1E"/>
                </a:solidFill>
              </a:rPr>
              <a:t>Generates real-valued vectors for dense distance computation.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FAISS Indexing: </a:t>
            </a:r>
            <a:r>
              <a:rPr sz="1600">
                <a:solidFill>
                  <a:srgbClr val="1E1E1E"/>
                </a:solidFill>
              </a:rPr>
              <a:t>Integrates Meta's FAISS library for high-speed L2 vector search against millions of target templates.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VISION TRANSFORMER (VIT) INTEGRATION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PyTorch Vision Transformer (ViT) Patch Attention Engine: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Patch Embedding Projection: </a:t>
            </a:r>
            <a:r>
              <a:rPr sz="1600">
                <a:solidFill>
                  <a:srgbClr val="1E1E1E"/>
                </a:solidFill>
              </a:rPr>
              <a:t>Divides 224x224 RGB webpage screenshots into 16x16 non-overlapping visual patches (196 patches).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Spatial Self-Attention Network: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Transformer Encoder Layer: </a:t>
            </a:r>
            <a:r>
              <a:rPr sz="1400">
                <a:solidFill>
                  <a:srgbClr val="1E1E1E"/>
                </a:solidFill>
              </a:rPr>
              <a:t>Computes multi-head self-attention across visual patches to identify global layout relationships.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CLS Token Representation: </a:t>
            </a:r>
            <a:r>
              <a:rPr sz="1400">
                <a:solidFill>
                  <a:srgbClr val="1E1E1E"/>
                </a:solidFill>
              </a:rPr>
              <a:t>Extracts a 64-dimensional visual embedding vector from the CLS token for threat classification.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Key Benefit: </a:t>
            </a:r>
            <a:r>
              <a:rPr sz="1600">
                <a:solidFill>
                  <a:srgbClr val="1E1E1E"/>
                </a:solidFill>
              </a:rPr>
              <a:t>Captures long-range spatial dependencies across web page elements (e.g. alignment between login input boxes and top brand header).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OUR INNOVATION: DUAL-STAGE HYBRID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Innovative Dual-Stage Visual Triage Pipeline: </a:t>
            </a:r>
            <a:r>
              <a:rPr sz="1600">
                <a:solidFill>
                  <a:srgbClr val="1E1E1E"/>
                </a:solidFill>
              </a:rPr>
              <a:t>Combining the complementary strengths of lightweight perceptual hashing and deep logo recognition.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Stage 1: Rapid Binary Threat Filter (pHash + FAISS):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Role: </a:t>
            </a:r>
            <a:r>
              <a:rPr sz="1400">
                <a:solidFill>
                  <a:srgbClr val="1E1E1E"/>
                </a:solidFill>
              </a:rPr>
              <a:t>Executes sub-millisecond pHash L2 search to filter out non-phishing traffic with top binary stability (F1 = 0.9539).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Stage 2: High-Precision Target Brand Recognition (Phishpedia):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Role: </a:t>
            </a:r>
            <a:r>
              <a:rPr sz="1400">
                <a:solidFill>
                  <a:srgbClr val="1E1E1E"/>
                </a:solidFill>
              </a:rPr>
              <a:t>Triggers computationally heavy Faster R-CNN + Siamese logo matching ONLY on suspicious candidates to identify the exact impersonated target (Id Rate &gt; 0.98).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Solves Deep Feature Collapse: </a:t>
            </a:r>
            <a:r>
              <a:rPr sz="1600">
                <a:solidFill>
                  <a:srgbClr val="1E1E1E"/>
                </a:solidFill>
              </a:rPr>
              <a:t>Prevents VisualPhishNet's failure mode where synthetic data causes diverse pages to collapse into single clusters.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EXPERIMENTAL FRAMEWORK &amp; DATASETS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Standardized Microservices Benchmarking Framework: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Four Comprehensive Benchmark Datasets: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CERT Polska Dataset: </a:t>
            </a:r>
            <a:r>
              <a:rPr sz="1400">
                <a:solidFill>
                  <a:srgbClr val="1E1E1E"/>
                </a:solidFill>
              </a:rPr>
              <a:t>15,049 real-world operational screenshots (36 targets, unaugmented).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Phishpedia (PP) Dataset: </a:t>
            </a:r>
            <a:r>
              <a:rPr sz="1400">
                <a:solidFill>
                  <a:srgbClr val="1E1E1E"/>
                </a:solidFill>
              </a:rPr>
              <a:t>14,500 phishing / 1,542 benign screenshots (56 targets, augmented).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VisualPhishNet (VP) Dataset: </a:t>
            </a:r>
            <a:r>
              <a:rPr sz="1400">
                <a:solidFill>
                  <a:srgbClr val="1E1E1E"/>
                </a:solidFill>
              </a:rPr>
              <a:t>4,644 phishing / 8,835 benign screenshots (144 targets, augmented).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LNU-Phish Benchmark (IEEE TDSC 2022): </a:t>
            </a:r>
            <a:r>
              <a:rPr sz="1400">
                <a:solidFill>
                  <a:srgbClr val="1E1E1E"/>
                </a:solidFill>
              </a:rPr>
              <a:t>20,000+ verified webpage DOMs, screenshots, and DNS records.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Data Standardization: </a:t>
            </a:r>
            <a:r>
              <a:rPr sz="1600">
                <a:solidFill>
                  <a:srgbClr val="1E1E1E"/>
                </a:solidFill>
              </a:rPr>
              <a:t>Stratified sampling (60% Train, 20% Val, 20% Test) across all target brand classes.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THRESHOLDING &amp; EER OPTIMIZATION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Distance-Based Decision Boundaries &amp; Threshold Tuning: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Two-Stage Threshold Search Algorithm: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Coarse Search: </a:t>
            </a:r>
            <a:r>
              <a:rPr sz="1400">
                <a:solidFill>
                  <a:srgbClr val="1E1E1E"/>
                </a:solidFill>
              </a:rPr>
              <a:t>Evaluates embedding distances from 0 to maximum validation distance in increments of 10.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Fine-Grained Search: </a:t>
            </a:r>
            <a:r>
              <a:rPr sz="1400">
                <a:solidFill>
                  <a:srgbClr val="1E1E1E"/>
                </a:solidFill>
              </a:rPr>
              <a:t>Refines threshold within Mean ± 1 Std Dev in single-unit increments.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Equal Error Rate (EER) Point: </a:t>
            </a:r>
            <a:r>
              <a:rPr sz="1600">
                <a:solidFill>
                  <a:srgbClr val="1E1E1E"/>
                </a:solidFill>
              </a:rPr>
              <a:t>Identifies optimal cut-off where False Positive Rate (FPR) equals False Negative Rate (FNR).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Tuned Threshold Results: </a:t>
            </a:r>
            <a:r>
              <a:rPr sz="1600">
                <a:solidFill>
                  <a:srgbClr val="1E1E1E"/>
                </a:solidFill>
              </a:rPr>
              <a:t>CERT Polska = 8.00 | Phishpedia (PP) = 3.00 | VisualPhishNet (VP) = 50.00.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BINARY CLASSIFICATION &amp; FEATURE COLLAPSE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Binary Detection Benchmarks (Phishing vs. Benign):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Baseline (pHash + FAISS) Dominance: </a:t>
            </a:r>
            <a:r>
              <a:rPr sz="1400">
                <a:solidFill>
                  <a:srgbClr val="1E1E1E"/>
                </a:solidFill>
              </a:rPr>
              <a:t>Achieved highest binary stability across all datasets (PP F1 = 0.9539, VP ROC AUC = 0.8201, VP MCC = 0.6294).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Phishpedia Binary Performance: </a:t>
            </a:r>
            <a:r>
              <a:rPr sz="1400">
                <a:solidFill>
                  <a:srgbClr val="1E1E1E"/>
                </a:solidFill>
              </a:rPr>
              <a:t>Excellent on PP dataset (F1 = 0.9062), but lower on CERT Polska (F1 = 0.1598) due to strict reliance on logo presence.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VisualPhishNet Breakdown &amp; Feature Collapse: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Poor Metrics: </a:t>
            </a:r>
            <a:r>
              <a:rPr sz="1400">
                <a:solidFill>
                  <a:srgbClr val="1E1E1E"/>
                </a:solidFill>
              </a:rPr>
              <a:t>Achieved F1 of only 0.1673 on PP dataset and negative MCC values (-0.6160).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Feature Collapse Phenomenon: </a:t>
            </a:r>
            <a:r>
              <a:rPr sz="1400">
                <a:solidFill>
                  <a:srgbClr val="1E1E1E"/>
                </a:solidFill>
              </a:rPr>
              <a:t>Synthetic data noise caused 85% of diverse phishing samples to collapse into just 3 target clusters (Adobe, Absa, Paschoalotto).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MULTICLASS TARGET RECOGNITION RESULTS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Multiclass Impersonation Target Identification Benchmarks: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Phishpedia Superior Target Identification: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Identification Rate (Id / Rep_TP): </a:t>
            </a:r>
            <a:r>
              <a:rPr sz="1400">
                <a:solidFill>
                  <a:srgbClr val="1E1E1E"/>
                </a:solidFill>
              </a:rPr>
              <a:t>Maintained &gt;0.90 Identification Rate across ALL tested datasets (CERT = 0.9845, VP = 0.9270, PP = 0.9154).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Brand Variant Accuracy: </a:t>
            </a:r>
            <a:r>
              <a:rPr sz="1400">
                <a:solidFill>
                  <a:srgbClr val="1E1E1E"/>
                </a:solidFill>
              </a:rPr>
              <a:t>Siamese classification successfully attributes complex brand sub-variants.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Baseline (pHash) Multiclass Limits: </a:t>
            </a:r>
            <a:r>
              <a:rPr sz="1600">
                <a:solidFill>
                  <a:srgbClr val="1E1E1E"/>
                </a:solidFill>
              </a:rPr>
              <a:t>Achieved solid Micro F1 (VP = 0.7009) but moderate Identification Rate (0.2554 - 0.5687), proving it is best deployed as a binary stage-1 filter.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INNOVATIVE HYBRID WORKFLOW &amp; ARCHITECTURE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920240" cy="3840480"/>
          </a:xfrm>
          <a:prstGeom prst="roundRect">
            <a:avLst/>
          </a:prstGeom>
          <a:solidFill>
            <a:srgbClr val="8C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Inputs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Webpage Screenshot
(CERT / PP / VP /
LNU-Phish)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97480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1920240" cy="3840480"/>
          </a:xfrm>
          <a:prstGeom prst="round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Stage 1 Filter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pHash + DCT + FAISS
Sub-ms Binary Filter
(F1 = 0.9539)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92040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920240" cy="3840480"/>
          </a:xfrm>
          <a:prstGeom prst="roundRect">
            <a:avLst/>
          </a:prstGeom>
          <a:solidFill>
            <a:srgbClr val="7D3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Stage 2 Detector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Phishpedia Faster R-CNN
Logo Candidates &amp;
Siamese Matcher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6600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199" y="1828800"/>
            <a:ext cx="1920240" cy="3840480"/>
          </a:xfrm>
          <a:prstGeom prst="round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Stage 3 Fusion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ViT Patch Attention &amp;
10-LLM Bayesian
Consensus Engine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281159" y="3474720"/>
            <a:ext cx="182880" cy="365760"/>
          </a:xfrm>
          <a:prstGeom prst="rightArrow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09760" y="1828800"/>
            <a:ext cx="1920240" cy="3840480"/>
          </a:xfrm>
          <a:prstGeom prst="roundRect">
            <a:avLst/>
          </a:prstGeom>
          <a:solidFill>
            <a:srgbClr val="A02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Output Triage
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Binary Threat Verdict
Target Brand Label
XAI Evidence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EXPERIMENTAL BENCHMARK COMPARISON TABLE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86000"/>
                <a:gridCol w="1554480"/>
                <a:gridCol w="1554480"/>
                <a:gridCol w="1554480"/>
                <a:gridCol w="1767535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Method Paradigm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Micro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F1 Macro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MCC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Identification Rate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CERT Polska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0.3654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0.1481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0.0733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0.7093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CERT Polska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0.2621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CERT Polska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Proposed Stage-1 pHash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0.5823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0.1670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0.3668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0.2554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 (VP)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0.3924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 (VP)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0.3782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0.3073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0.2569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0.9270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 (VP)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Proposed Stage-1 pHash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0.7009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0.4111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0.5679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 (PP)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VisualPhishNet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0.1003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0.0334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0.0111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 (PP)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0.7691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0.2894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0.7384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0.9154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Phishpedia (PP)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E1E1E"/>
                          </a:solidFill>
                        </a:rPr>
                        <a:t>Proposed Hybrid Dual-Stage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0.9539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0.4111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E1E1E"/>
                          </a:solidFill>
                        </a:rPr>
                        <a:t>0.7384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05000"/>
                          </a:solidFill>
                        </a:rPr>
                        <a:t>0.9845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COMPUTATIONAL EFFICIENCY &amp; DEPLOYMENT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Computational Efficiency &amp; Resource Footprint: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Training Time Comparison: </a:t>
            </a:r>
            <a:r>
              <a:rPr sz="1400">
                <a:solidFill>
                  <a:srgbClr val="1E1E1E"/>
                </a:solidFill>
              </a:rPr>
              <a:t>VisualPhishNet requires 8-10 hours per dataset; Baseline pHash &amp; Phishpedia complete training in ~20 minutes on standard hardware.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Inference Latency: </a:t>
            </a:r>
            <a:r>
              <a:rPr sz="1400">
                <a:solidFill>
                  <a:srgbClr val="1E1E1E"/>
                </a:solidFill>
              </a:rPr>
              <a:t>Stage-1 pHash FAISS binary search executes in &lt;2ms per screenshot, enabling high-throughput pre-filtering.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Real-World Deployment Scenarios: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National CSIRT / CERT Triage: </a:t>
            </a:r>
            <a:r>
              <a:rPr sz="1400">
                <a:solidFill>
                  <a:srgbClr val="1E1E1E"/>
                </a:solidFill>
              </a:rPr>
              <a:t>Automates initial screening of 15,000+ daily regional threat URLs.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Automated Takedown Triage: </a:t>
            </a:r>
            <a:r>
              <a:rPr sz="1400">
                <a:solidFill>
                  <a:srgbClr val="1E1E1E"/>
                </a:solidFill>
              </a:rPr>
              <a:t>Provides high-confidence target brand attribution labels required by legal takedown services.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FUTURE SCOPE &amp; POTENTIAL IMPROVEMENTS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Future Scope &amp; Advanced Extensions: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K-Fold Cross-Validation Integration: </a:t>
            </a:r>
            <a:r>
              <a:rPr sz="1400">
                <a:solidFill>
                  <a:srgbClr val="1E1E1E"/>
                </a:solidFill>
              </a:rPr>
              <a:t>Expanding evaluation protocols to include multi-fold cross-validation for formal statistical variance analysis.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Adversarial Perturbation Defense: </a:t>
            </a:r>
            <a:r>
              <a:rPr sz="1400">
                <a:solidFill>
                  <a:srgbClr val="1E1E1E"/>
                </a:solidFill>
              </a:rPr>
              <a:t>Robustifying vision models against adversarial noise, dynamic watermarking, and canvas blurring.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Multimodal Vision-Language Integration: </a:t>
            </a:r>
            <a:r>
              <a:rPr sz="1400">
                <a:solidFill>
                  <a:srgbClr val="1E1E1E"/>
                </a:solidFill>
              </a:rPr>
              <a:t>Coupling ViT visual patch embeddings with DOM Graph Neural Networks (GNN) and 10-LLM consensus orchestrators.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Temporal Campaign Analysis: </a:t>
            </a:r>
            <a:r>
              <a:rPr sz="1400">
                <a:solidFill>
                  <a:srgbClr val="1E1E1E"/>
                </a:solidFill>
              </a:rPr>
              <a:t>Grouping detection results across time windows to track evolutionary trends in phishing visual templates.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CONCLUSION &amp; KEY TAKEAWAYS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Summary of Key Contributions &amp; Takeaways: </a:t>
            </a:r>
            <a:r>
              <a:rPr sz="1600">
                <a:solidFill>
                  <a:srgbClr val="1E1E1E"/>
                </a:solidFill>
              </a:rPr>
              <a:t/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1. Perceptual Hashing Baseline Superiority: </a:t>
            </a:r>
            <a:r>
              <a:rPr sz="1400">
                <a:solidFill>
                  <a:srgbClr val="1E1E1E"/>
                </a:solidFill>
              </a:rPr>
              <a:t>Proved that lightweight pHash + FAISS outperforms complex triplet CNNs for binary phishing classification across all tested benchmarks.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2. Phishpedia Target Recognition Dominance: </a:t>
            </a:r>
            <a:r>
              <a:rPr sz="1400">
                <a:solidFill>
                  <a:srgbClr val="1E1E1E"/>
                </a:solidFill>
              </a:rPr>
              <a:t>Confirmed Faster R-CNN + Siamese matching is essential for precise target brand attribution (Id Rate &gt; 0.98).</a:t>
            </a:r>
          </a:p>
          <a:p>
            <a:pPr lvl="1">
              <a:spcAft>
                <a:spcPts val="600"/>
              </a:spcAft>
            </a:pPr>
            <a:r>
              <a:rPr sz="1400" b="1">
                <a:solidFill>
                  <a:srgbClr val="1E1E1E"/>
                </a:solidFill>
              </a:rPr>
              <a:t>o </a:t>
            </a:r>
            <a:r>
              <a:rPr sz="1400" b="1">
                <a:solidFill>
                  <a:srgbClr val="1E1E1E"/>
                </a:solidFill>
              </a:rPr>
              <a:t>3. Proposed Dual-Stage Hybrid Architecture: </a:t>
            </a:r>
            <a:r>
              <a:rPr sz="1400">
                <a:solidFill>
                  <a:srgbClr val="1E1E1E"/>
                </a:solidFill>
              </a:rPr>
              <a:t>Stage-1 pHash binary pre-filter + Stage-2 Phishpedia target brand recognition offers the optimal balance of speed, accuracy, and stability.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4. Open-Source Community Framework: </a:t>
            </a:r>
            <a:r>
              <a:rPr sz="1600">
                <a:solidFill>
                  <a:srgbClr val="1E1E1E"/>
                </a:solidFill>
              </a:rPr>
              <a:t>Released containerized microservices benchmark framework for reproducible cybersecurity research.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 u="sng">
                <a:solidFill>
                  <a:srgbClr val="1E1E1E"/>
                </a:solidFill>
                <a:latin typeface="Calibri"/>
              </a:rPr>
              <a:t>REFERENCES</a:t>
            </a:r>
          </a:p>
        </p:txBody>
      </p:sp>
      <p:sp>
        <p:nvSpPr>
          <p:cNvPr id="3" name="Oval 2"/>
          <p:cNvSpPr/>
          <p:nvPr/>
        </p:nvSpPr>
        <p:spPr>
          <a:xfrm>
            <a:off x="10972800" y="274320"/>
            <a:ext cx="731520" cy="731520"/>
          </a:xfrm>
          <a:prstGeom prst="ellipse">
            <a:avLst/>
          </a:prstGeom>
          <a:solidFill>
            <a:srgbClr val="003366"/>
          </a:solidFill>
          <a:ln w="19050">
            <a:solidFill>
              <a:srgbClr val="C05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ASIET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8655" cy="48463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Jarczewski, M., Białczak, P., &amp; Mazurczyk, W. </a:t>
            </a:r>
            <a:r>
              <a:rPr sz="1600">
                <a:solidFill>
                  <a:srgbClr val="1E1E1E"/>
                </a:solidFill>
              </a:rPr>
              <a:t>(2026). Phishing Website Impersonation: Comparative Analysis of Detection and Target Recognition Methods. MDPI Applied Sciences, 16(2), 640. DOI: 10.3390/app16020640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Lin, Y., Liu, R., Divakaran, D. M., et al. </a:t>
            </a:r>
            <a:r>
              <a:rPr sz="1600">
                <a:solidFill>
                  <a:srgbClr val="1E1E1E"/>
                </a:solidFill>
              </a:rPr>
              <a:t>(2021). Phishpedia: A Hybrid Deep Learning Based Approach to Visually Identify Phishing Webpages. In 30th USENIX Security Symposium (pp. 3793-3810).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Abdelnabi, S., Krombholz, K., &amp; Fritz, M. </a:t>
            </a:r>
            <a:r>
              <a:rPr sz="1600">
                <a:solidFill>
                  <a:srgbClr val="1E1E1E"/>
                </a:solidFill>
              </a:rPr>
              <a:t>(2020). VisualPhishNet: Zero-Day Phishing Website Detection by Visual Similarity. In ACM Conference on Computer and Communications Security (CCS) (pp. 1633-1650).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Apruzzese, G., &amp; Subrahmanian, V. S. </a:t>
            </a:r>
            <a:r>
              <a:rPr sz="1600">
                <a:solidFill>
                  <a:srgbClr val="1E1E1E"/>
                </a:solidFill>
              </a:rPr>
              <a:t>(2022). Mitigating Adversarial Gray-Box Attacks Against Phishing Detectors (LNU-Phish). IEEE Transactions on Dependable and Secure Computing.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E1E1E"/>
                </a:solidFill>
              </a:rPr>
              <a:t>• </a:t>
            </a:r>
            <a:r>
              <a:rPr sz="1600" b="1">
                <a:solidFill>
                  <a:srgbClr val="1E1E1E"/>
                </a:solidFill>
              </a:rPr>
              <a:t>Douze, M., Guzhva, A., Deng, C., et al. </a:t>
            </a:r>
            <a:r>
              <a:rPr sz="1600">
                <a:solidFill>
                  <a:srgbClr val="1E1E1E"/>
                </a:solidFill>
              </a:rPr>
              <a:t>(2025). The Faiss Library. arXiv preprint arXiv:2401.08281.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E1E1E"/>
                </a:solidFill>
                <a:latin typeface="Calibri"/>
              </a:rPr>
              <a:t>THANK YOU</a:t>
            </a:r>
          </a:p>
          <a:p>
            <a:pPr algn="ctr"/>
            <a:r>
              <a:rPr sz="2000">
                <a:solidFill>
                  <a:srgbClr val="646464"/>
                </a:solidFill>
                <a:latin typeface="Calibri"/>
              </a:rPr>
              <a:t>
Questions &amp; Technical Discussions Welcome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35508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646464"/>
                </a:solidFill>
                <a:latin typeface="Calibri"/>
              </a:rPr>
              <a:t>25-07-2026          </a:t>
            </a:r>
            <a:r>
              <a:rPr sz="1100">
                <a:solidFill>
                  <a:srgbClr val="646464"/>
                </a:solidFill>
                <a:latin typeface="Calibri"/>
              </a:rPr>
              <a:t>Department of Artificial Intelligence &amp; Data Science, ASIET</a:t>
            </a:r>
            <a:r>
              <a:rPr sz="1100">
                <a:solidFill>
                  <a:srgbClr val="646464"/>
                </a:solidFill>
                <a:latin typeface="Calibri"/>
              </a:rPr>
              <a:t>         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